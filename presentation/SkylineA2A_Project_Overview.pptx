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SkylineA2A Project Overview</a:t>
            </a:r>
          </a:p>
          <a:p>
            <a:pPr>
              <a:defRPr sz="1800">
                <a:solidFill>
                  <a:srgbClr val="CADCFC"/>
                </a:solidFill>
                <a:latin typeface="Calibri"/>
              </a:defRPr>
            </a:pPr>
            <a:r>
              <a:t>Foundry + Microsoft Agent Framework + APIM monetization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4937760" cy="640080"/>
          </a:xfrm>
          <a:prstGeom prst="roundRect">
            <a:avLst/>
          </a:prstGeom>
          <a:solidFill>
            <a:srgbClr val="02809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FFFFFF"/>
                </a:solidFill>
              </a:defRPr>
            </a:pPr>
            <a:r>
              <a:t>Two A2A agents • One monetized gateway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What we built</a:t>
            </a:r>
          </a:p>
          <a:p>
            <a:pPr>
              <a:defRPr sz="1800">
                <a:solidFill>
                  <a:srgbClr val="20252E"/>
                </a:solidFill>
                <a:latin typeface="Calibri"/>
              </a:defRPr>
            </a:pPr>
            <a:r>
              <a:t>Business-ready A2A demo with monetization controls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39496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493776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2761"/>
                </a:solidFill>
              </a:defRPr>
            </a:pPr>
            <a:r>
              <a:t>Demo 1 — Foundry Agent Service</a:t>
            </a:r>
          </a:p>
          <a:p>
            <a:pPr>
              <a:defRPr sz="1400">
                <a:solidFill>
                  <a:srgbClr val="20252E"/>
                </a:solidFill>
              </a:defRPr>
            </a:pPr>
            <a:r>
              <a:t>Docs Expert agent on GPT-5.2, exposed as A2A and grounded with Microsoft Learn MCP.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645920"/>
            <a:ext cx="512064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828800"/>
            <a:ext cx="466344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2761"/>
                </a:solidFill>
              </a:defRPr>
            </a:pPr>
            <a:r>
              <a:t>Demo 2 — Microsoft Agent Framework</a:t>
            </a:r>
          </a:p>
          <a:p>
            <a:pPr>
              <a:defRPr sz="1400">
                <a:solidFill>
                  <a:srgbClr val="20252E"/>
                </a:solidFill>
              </a:defRPr>
            </a:pPr>
            <a:r>
              <a:t>DevOps Helper agent on GPT-5.2, exposed as A2A from a Python server (local or ACA).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931920"/>
            <a:ext cx="106984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4114800"/>
            <a:ext cx="102412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2761"/>
                </a:solidFill>
              </a:defRPr>
            </a:pPr>
            <a:r>
              <a:t>Unified front door — Azure API Management</a:t>
            </a:r>
          </a:p>
          <a:p>
            <a:pPr>
              <a:defRPr sz="1400">
                <a:solidFill>
                  <a:srgbClr val="20252E"/>
                </a:solidFill>
              </a:defRPr>
            </a:pPr>
            <a:r>
              <a:t>Products, subscriptions, quotas and policy-based governance applied consistently to both agent runtimes.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Solution architecture</a:t>
            </a:r>
          </a:p>
          <a:p>
            <a:pPr>
              <a:defRPr sz="1800">
                <a:solidFill>
                  <a:srgbClr val="20252E"/>
                </a:solidFill>
                <a:latin typeface="Calibri"/>
              </a:defRPr>
            </a:pPr>
            <a:r>
              <a:t>A2A clients consume agents through APIM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286000"/>
            <a:ext cx="2011680" cy="914400"/>
          </a:xfrm>
          <a:prstGeom prst="roundRect">
            <a:avLst/>
          </a:prstGeom>
          <a:solidFill>
            <a:srgbClr val="CADCFC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>
                <a:solidFill>
                  <a:srgbClr val="1E2761"/>
                </a:solidFill>
              </a:defRPr>
            </a:pPr>
            <a:r>
              <a:t>A2A Client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645920"/>
            <a:ext cx="5669280" cy="2194560"/>
          </a:xfrm>
          <a:prstGeom prst="round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Azure API Management</a:t>
            </a:r>
          </a:p>
          <a:p>
            <a:pPr algn="ctr">
              <a:defRPr sz="1400">
                <a:solidFill>
                  <a:srgbClr val="CADCFC"/>
                </a:solidFill>
              </a:defRPr>
            </a:pPr>
            <a:r>
              <a:t>Products: Free / Pro</a:t>
            </a:r>
            <a:br/>
            <a:r>
              <a:t>Policies: key auth, quota/rate, metering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4389120"/>
            <a:ext cx="3657600" cy="1463040"/>
          </a:xfrm>
          <a:prstGeom prst="roundRect">
            <a:avLst/>
          </a:prstGeom>
          <a:solidFill>
            <a:srgbClr val="ECF7F9"/>
          </a:solidFill>
          <a:ln>
            <a:solidFill>
              <a:srgbClr val="0280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Demo 1</a:t>
            </a:r>
            <a:br/>
            <a:r>
              <a:t>Foundry Agent Service</a:t>
            </a:r>
            <a:br/>
            <a:r>
              <a:t>A2A endpoint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4389120"/>
            <a:ext cx="3657600" cy="1463040"/>
          </a:xfrm>
          <a:prstGeom prst="roundRect">
            <a:avLst/>
          </a:prstGeom>
          <a:solidFill>
            <a:srgbClr val="F4F6FF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/>
            </a:pPr>
            <a:r>
              <a:t>Demo 2</a:t>
            </a:r>
            <a:br/>
            <a:r>
              <a:t>MAF A2A server</a:t>
            </a:r>
            <a:br/>
            <a:r>
              <a:t>on ACA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E2761"/>
                </a:solidFill>
                <a:latin typeface="Calibri"/>
              </a:defRPr>
            </a:pPr>
            <a:r>
              <a:t>API Management monetization strategy</a:t>
            </a:r>
          </a:p>
          <a:p>
            <a:pPr>
              <a:defRPr sz="1800">
                <a:solidFill>
                  <a:srgbClr val="20252E"/>
                </a:solidFill>
                <a:latin typeface="Calibri"/>
              </a:defRPr>
            </a:pPr>
            <a:r>
              <a:t>Commercial control without changing agent code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828800"/>
            <a:ext cx="32004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2761"/>
                </a:solidFill>
              </a:defRPr>
            </a:pPr>
            <a:r>
              <a:t>Products</a:t>
            </a:r>
          </a:p>
          <a:p>
            <a:pPr>
              <a:defRPr sz="1400">
                <a:solidFill>
                  <a:srgbClr val="20252E"/>
                </a:solidFill>
              </a:defRPr>
            </a:pPr>
            <a:r>
              <a:t>Free and Pro products define traffic envelopes and package tiers for customers.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26280" y="1645920"/>
            <a:ext cx="36576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1828800"/>
            <a:ext cx="320040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2761"/>
                </a:solidFill>
              </a:defRPr>
            </a:pPr>
            <a:r>
              <a:t>Subscriptions</a:t>
            </a:r>
          </a:p>
          <a:p>
            <a:pPr>
              <a:defRPr sz="1400">
                <a:solidFill>
                  <a:srgbClr val="20252E"/>
                </a:solidFill>
              </a:defRPr>
            </a:pPr>
            <a:r>
              <a:t>Each consumer gets a subscription key that maps usage to a plan and tenant.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321040" y="1645920"/>
            <a:ext cx="310896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CAD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49640" y="1828800"/>
            <a:ext cx="2651760" cy="1691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1E2761"/>
                </a:solidFill>
              </a:defRPr>
            </a:pPr>
            <a:r>
              <a:t>Policies</a:t>
            </a:r>
          </a:p>
          <a:p>
            <a:pPr>
              <a:defRPr sz="1400">
                <a:solidFill>
                  <a:srgbClr val="20252E"/>
                </a:solidFill>
              </a:defRPr>
            </a:pPr>
            <a:r>
              <a:t>rate-limit, quota and telemetry applied centrally for both A2A APIs.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349240" cy="1600200"/>
          </a:xfrm>
          <a:prstGeom prst="roundRect">
            <a:avLst/>
          </a:prstGeom>
          <a:solidFill>
            <a:srgbClr val="E7F6EF"/>
          </a:solidFill>
          <a:ln>
            <a:solidFill>
              <a:srgbClr val="2CA58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2CA58D"/>
                </a:solidFill>
              </a:defRPr>
            </a:pPr>
            <a:r>
              <a:t>✅ Implemented now</a:t>
            </a:r>
          </a:p>
          <a:p>
            <a:pPr>
              <a:defRPr sz="1400"/>
            </a:pPr>
            <a:r>
              <a:t>• Product-tier access</a:t>
            </a:r>
          </a:p>
          <a:p>
            <a:pPr>
              <a:defRPr sz="1400"/>
            </a:pPr>
            <a:r>
              <a:t>• Key-based identity</a:t>
            </a:r>
          </a:p>
          <a:p>
            <a:pPr>
              <a:defRPr sz="1400"/>
            </a:pPr>
            <a:r>
              <a:t>• Quota/rate controls</a:t>
            </a:r>
          </a:p>
          <a:p>
            <a:pPr>
              <a:defRPr sz="1400"/>
            </a:pPr>
            <a:r>
              <a:t>• Per-call metering signals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069080"/>
            <a:ext cx="5166360" cy="1600200"/>
          </a:xfrm>
          <a:prstGeom prst="roundRect">
            <a:avLst/>
          </a:prstGeom>
          <a:solidFill>
            <a:srgbClr val="FFF2EE"/>
          </a:solidFill>
          <a:ln>
            <a:solidFill>
              <a:srgbClr val="F961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 sz="1400">
                <a:solidFill>
                  <a:srgbClr val="F96167"/>
                </a:solidFill>
              </a:defRPr>
            </a:pPr>
            <a:r>
              <a:t>⚠️ Next step</a:t>
            </a:r>
          </a:p>
          <a:p>
            <a:pPr>
              <a:defRPr sz="1400"/>
            </a:pPr>
            <a:r>
              <a:t>Token-level billing can be layered with custom telemetry + external metering.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Result: a credible long-term A2A monetization blueprint</a:t>
            </a:r>
          </a:p>
          <a:p>
            <a:pPr>
              <a:defRPr sz="1800">
                <a:solidFill>
                  <a:srgbClr val="CADCFC"/>
                </a:solidFill>
                <a:latin typeface="Calibri"/>
              </a:defRPr>
            </a:pPr>
            <a:r>
              <a:t>Reusable for future agents with minimal integration overhead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78992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• Same APIM monetization model for Foundry-hosted and MAF-hosted agents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Clear product strategy (Free vs Pro) and measurable consumption boundaries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End-to-end validation already working through APIM routes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• Ready to evolve toward enterprise billing and governance patterns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