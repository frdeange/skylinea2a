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5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841480" y="0"/>
            <a:ext cx="54864" cy="14630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Shape 1"/>
          <p:cNvSpPr/>
          <p:nvPr/>
        </p:nvSpPr>
        <p:spPr>
          <a:xfrm>
            <a:off x="11951208" y="0"/>
            <a:ext cx="54864" cy="822960"/>
          </a:xfrm>
          <a:prstGeom prst="rect">
            <a:avLst/>
          </a:prstGeom>
          <a:solidFill>
            <a:srgbClr val="5FB6BB">
              <a:alpha val="6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7315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SKYLINEA2A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8412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Monetizing</a:t>
            </a:r>
            <a:endParaRPr lang="en-US" sz="6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agent-to-agent</a:t>
            </a:r>
            <a:endParaRPr lang="en-US" sz="6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6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communication.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640080" y="470916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9BA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A2A agents · One API Management gateway · A blueprint for what comes next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692640" y="1554480"/>
            <a:ext cx="1920240" cy="7315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/>
          <p:nvPr/>
        </p:nvSpPr>
        <p:spPr>
          <a:xfrm>
            <a:off x="9692640" y="155448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Management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692640" y="2514600"/>
            <a:ext cx="1920240" cy="731520"/>
          </a:xfrm>
          <a:prstGeom prst="rect">
            <a:avLst/>
          </a:prstGeom>
          <a:solidFill>
            <a:srgbClr val="2C3473"/>
          </a:solidFill>
          <a:ln/>
        </p:spPr>
      </p:sp>
      <p:sp>
        <p:nvSpPr>
          <p:cNvPr id="10" name="Text 8"/>
          <p:cNvSpPr/>
          <p:nvPr/>
        </p:nvSpPr>
        <p:spPr>
          <a:xfrm>
            <a:off x="9692640" y="25146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runtime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692640" y="3474720"/>
            <a:ext cx="1920240" cy="73152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2" name="Text 10"/>
          <p:cNvSpPr/>
          <p:nvPr/>
        </p:nvSpPr>
        <p:spPr>
          <a:xfrm>
            <a:off x="9692640" y="347472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· GPT-5.2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534924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1554480" y="54406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BA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A2A agents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834640" y="534924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3749040" y="54406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BA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9200" y="534924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5943600" y="54406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BA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tiers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0" y="6565392"/>
            <a:ext cx="12191695" cy="457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6263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9BA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 ·  Microsoft Agent Framework  ·  Azure API Management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B4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SkylineA2A  |  Project overview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SCOPE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blueprint: two A2A-compliant agents fronted by a single APIM gateway with monetization controls.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20440" cy="41605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  <a:prstDash val="solid"/>
          </a:ln>
          <a:effectLst>
            <a:outerShdw sx="100000" sy="100000" kx="0" ky="0" algn="bl" rotWithShape="0" blurRad="152400" dist="25400" dir="5400000">
              <a:srgbClr val="0F1538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2148840"/>
            <a:ext cx="3520440" cy="1097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2560320"/>
            <a:ext cx="868680" cy="8686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761488"/>
            <a:ext cx="466344" cy="46634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14400" y="356616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914400" y="384048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914400" y="429768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Docs Expert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914400" y="475488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■"/>
            </a:pP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in Foundry Agent Service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■"/>
            </a:pP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with Microsoft Learn MCP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■"/>
            </a:pP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A2A endpoint enabled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914400" y="589788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B42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gpt-5.2  ·  azure-ai-projects 2.1.x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343400" y="2148840"/>
            <a:ext cx="3520440" cy="41605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  <a:prstDash val="solid"/>
          </a:ln>
          <a:effectLst>
            <a:outerShdw sx="100000" sy="100000" kx="0" ky="0" algn="bl" rotWithShape="0" blurRad="152400" dist="25400" dir="5400000">
              <a:srgbClr val="0F1538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343400" y="2148840"/>
            <a:ext cx="3520440" cy="1097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8" name="Shape 15"/>
          <p:cNvSpPr/>
          <p:nvPr/>
        </p:nvSpPr>
        <p:spPr>
          <a:xfrm>
            <a:off x="4709160" y="2560320"/>
            <a:ext cx="868680" cy="8686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2761488"/>
            <a:ext cx="466344" cy="466344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4709160" y="356616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2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4709160" y="384048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Agent</a:t>
            </a:r>
            <a:endParaRPr lang="en-US" sz="2200" dirty="0"/>
          </a:p>
        </p:txBody>
      </p:sp>
      <p:sp>
        <p:nvSpPr>
          <p:cNvPr id="22" name="Text 18"/>
          <p:cNvSpPr/>
          <p:nvPr/>
        </p:nvSpPr>
        <p:spPr>
          <a:xfrm>
            <a:off x="4709160" y="429768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Helper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4709160" y="475488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■"/>
            </a:pP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Microsoft Agent Framework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■"/>
            </a:pP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function tools (simulated)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■"/>
            </a:pP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on Azure Container Apps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4709160" y="589788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B42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gpt-5.2  ·  agent-framework-a2a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8138160" y="2148840"/>
            <a:ext cx="3520440" cy="41605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  <a:prstDash val="solid"/>
          </a:ln>
          <a:effectLst>
            <a:outerShdw sx="100000" sy="100000" kx="0" ky="0" algn="bl" rotWithShape="0" blurRad="152400" dist="25400" dir="5400000">
              <a:srgbClr val="0F1538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138160" y="2148840"/>
            <a:ext cx="3520440" cy="1097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7" name="Shape 23"/>
          <p:cNvSpPr/>
          <p:nvPr/>
        </p:nvSpPr>
        <p:spPr>
          <a:xfrm>
            <a:off x="8503920" y="2560320"/>
            <a:ext cx="868680" cy="8686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5088" y="2761488"/>
            <a:ext cx="466344" cy="466344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8503920" y="356616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</a:t>
            </a:r>
            <a:endParaRPr lang="en-US" sz="1100" dirty="0"/>
          </a:p>
        </p:txBody>
      </p:sp>
      <p:sp>
        <p:nvSpPr>
          <p:cNvPr id="30" name="Text 25"/>
          <p:cNvSpPr/>
          <p:nvPr/>
        </p:nvSpPr>
        <p:spPr>
          <a:xfrm>
            <a:off x="8503920" y="384048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Management</a:t>
            </a:r>
            <a:endParaRPr lang="en-US" sz="2200" dirty="0"/>
          </a:p>
        </p:txBody>
      </p:sp>
      <p:sp>
        <p:nvSpPr>
          <p:cNvPr id="31" name="Text 26"/>
          <p:cNvSpPr/>
          <p:nvPr/>
        </p:nvSpPr>
        <p:spPr>
          <a:xfrm>
            <a:off x="8503920" y="429768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Monetization plane</a:t>
            </a:r>
            <a:endParaRPr lang="en-US" sz="1400" dirty="0"/>
          </a:p>
        </p:txBody>
      </p:sp>
      <p:sp>
        <p:nvSpPr>
          <p:cNvPr id="32" name="Text 27"/>
          <p:cNvSpPr/>
          <p:nvPr/>
        </p:nvSpPr>
        <p:spPr>
          <a:xfrm>
            <a:off x="8503920" y="475488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■"/>
            </a:pP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Products, subscriptions, quotas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■"/>
            </a:pP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identity to Foundry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■"/>
            </a:pP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Per-call telemetry for billing</a:t>
            </a:r>
            <a:endParaRPr lang="en-US" sz="1300" dirty="0"/>
          </a:p>
        </p:txBody>
      </p:sp>
      <p:sp>
        <p:nvSpPr>
          <p:cNvPr id="33" name="Text 28"/>
          <p:cNvSpPr/>
          <p:nvPr/>
        </p:nvSpPr>
        <p:spPr>
          <a:xfrm>
            <a:off x="8503920" y="589788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B42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Native A2A API support (GA)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B4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SkylineA2A  |  Project overview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ARCHITECTURE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view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A2A call traverses APIM. Authentication, throttling and metering are enforced before the request reaches the agent runtime.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92024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  <a:prstDash val="solid"/>
          </a:ln>
          <a:effectLst>
            <a:outerShdw sx="100000" sy="100000" kx="0" ky="0" algn="bl" rotWithShape="0" blurRad="152400" dist="25400" dir="5400000">
              <a:srgbClr val="0F1538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234440" y="297180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9032" y="3136392"/>
            <a:ext cx="402336" cy="40233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40080" y="37947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A2A Client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0080" y="41148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signed requests with subscription key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91840" y="2331720"/>
            <a:ext cx="4206240" cy="260604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152400" dist="25400" dir="5400000">
              <a:srgbClr val="0F153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91840" y="2331720"/>
            <a:ext cx="4206240" cy="16459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4" name="Shape 11"/>
          <p:cNvSpPr/>
          <p:nvPr/>
        </p:nvSpPr>
        <p:spPr>
          <a:xfrm>
            <a:off x="5029200" y="2697480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3792" y="2862072"/>
            <a:ext cx="402336" cy="40233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291840" y="35204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API Management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3474720" y="3977640"/>
            <a:ext cx="1874520" cy="365760"/>
          </a:xfrm>
          <a:prstGeom prst="rect">
            <a:avLst/>
          </a:prstGeom>
          <a:solidFill>
            <a:srgbClr val="2C3473"/>
          </a:solidFill>
          <a:ln w="6350">
            <a:solidFill>
              <a:srgbClr val="5FB6BB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3474720" y="39776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Subscription-key auth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440680" y="3977640"/>
            <a:ext cx="1874520" cy="365760"/>
          </a:xfrm>
          <a:prstGeom prst="rect">
            <a:avLst/>
          </a:prstGeom>
          <a:solidFill>
            <a:srgbClr val="2C3473"/>
          </a:solidFill>
          <a:ln w="6350">
            <a:solidFill>
              <a:srgbClr val="5FB6BB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440680" y="39776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Rate-limit / quota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3474720" y="4434840"/>
            <a:ext cx="1874520" cy="365760"/>
          </a:xfrm>
          <a:prstGeom prst="rect">
            <a:avLst/>
          </a:prstGeom>
          <a:solidFill>
            <a:srgbClr val="2C3473"/>
          </a:solidFill>
          <a:ln w="6350">
            <a:solidFill>
              <a:srgbClr val="5FB6BB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474720" y="44348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Managed-identity backend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5440680" y="4434840"/>
            <a:ext cx="1874520" cy="365760"/>
          </a:xfrm>
          <a:prstGeom prst="rect">
            <a:avLst/>
          </a:prstGeom>
          <a:solidFill>
            <a:srgbClr val="2C3473"/>
          </a:solidFill>
          <a:ln w="6350">
            <a:solidFill>
              <a:srgbClr val="5FB6BB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5440680" y="44348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Per-call metering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8046720" y="2194560"/>
            <a:ext cx="36576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  <a:prstDash val="solid"/>
          </a:ln>
          <a:effectLst>
            <a:outerShdw sx="100000" sy="100000" kx="0" ky="0" algn="bl" rotWithShape="0" blurRad="152400" dist="25400" dir="5400000">
              <a:srgbClr val="0F1538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046720" y="2194560"/>
            <a:ext cx="109728" cy="1417320"/>
          </a:xfrm>
          <a:prstGeom prst="rect">
            <a:avLst/>
          </a:prstGeom>
          <a:solidFill>
            <a:srgbClr val="1E2761"/>
          </a:solidFill>
          <a:ln/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2468880"/>
            <a:ext cx="502920" cy="502920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9006840" y="2359152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1  ·  Foundry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9006840" y="26974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Expert  ·  Learn MCP  ·  GPT-5.2</a:t>
            </a:r>
            <a:endParaRPr lang="en-US" sz="1100" dirty="0"/>
          </a:p>
        </p:txBody>
      </p:sp>
      <p:sp>
        <p:nvSpPr>
          <p:cNvPr id="30" name="Text 25"/>
          <p:cNvSpPr/>
          <p:nvPr/>
        </p:nvSpPr>
        <p:spPr>
          <a:xfrm>
            <a:off x="8366760" y="31546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/demo1/* → Foundry A2A endpoint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8046720" y="3657600"/>
            <a:ext cx="36576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  <a:prstDash val="solid"/>
          </a:ln>
          <a:effectLst>
            <a:outerShdw sx="100000" sy="100000" kx="0" ky="0" algn="bl" rotWithShape="0" blurRad="152400" dist="25400" dir="5400000">
              <a:srgbClr val="0F1538">
                <a:alpha val="12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8046720" y="3657600"/>
            <a:ext cx="109728" cy="1417320"/>
          </a:xfrm>
          <a:prstGeom prst="rect">
            <a:avLst/>
          </a:prstGeom>
          <a:solidFill>
            <a:srgbClr val="1E2761"/>
          </a:solidFill>
          <a:ln/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3931920"/>
            <a:ext cx="502920" cy="502920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9006840" y="3822192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2  ·  MAF on ACA</a:t>
            </a:r>
            <a:endParaRPr lang="en-US" sz="1400" dirty="0"/>
          </a:p>
        </p:txBody>
      </p:sp>
      <p:sp>
        <p:nvSpPr>
          <p:cNvPr id="35" name="Text 29"/>
          <p:cNvSpPr/>
          <p:nvPr/>
        </p:nvSpPr>
        <p:spPr>
          <a:xfrm>
            <a:off x="9006840" y="41605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Helper  ·  GPT-5.2</a:t>
            </a:r>
            <a:endParaRPr lang="en-US" sz="1100" dirty="0"/>
          </a:p>
        </p:txBody>
      </p:sp>
      <p:sp>
        <p:nvSpPr>
          <p:cNvPr id="36" name="Text 30"/>
          <p:cNvSpPr/>
          <p:nvPr/>
        </p:nvSpPr>
        <p:spPr>
          <a:xfrm>
            <a:off x="8366760" y="46177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/demo2/* → ACA container app</a:t>
            </a:r>
            <a:endParaRPr lang="en-US" sz="1000" dirty="0"/>
          </a:p>
        </p:txBody>
      </p:sp>
      <p:sp>
        <p:nvSpPr>
          <p:cNvPr id="37" name="Shape 31"/>
          <p:cNvSpPr/>
          <p:nvPr/>
        </p:nvSpPr>
        <p:spPr>
          <a:xfrm>
            <a:off x="2606040" y="3429000"/>
            <a:ext cx="640080" cy="411480"/>
          </a:xfrm>
          <a:prstGeom prst="rightArrow">
            <a:avLst/>
          </a:prstGeom>
          <a:solidFill>
            <a:srgbClr val="028090"/>
          </a:solidFill>
          <a:ln/>
        </p:spPr>
      </p:sp>
      <p:sp>
        <p:nvSpPr>
          <p:cNvPr id="38" name="Shape 32"/>
          <p:cNvSpPr/>
          <p:nvPr/>
        </p:nvSpPr>
        <p:spPr>
          <a:xfrm>
            <a:off x="7406640" y="2651760"/>
            <a:ext cx="640080" cy="365760"/>
          </a:xfrm>
          <a:prstGeom prst="rightArrow">
            <a:avLst/>
          </a:prstGeom>
          <a:solidFill>
            <a:srgbClr val="1E2761"/>
          </a:solidFill>
          <a:ln/>
        </p:spPr>
      </p:sp>
      <p:sp>
        <p:nvSpPr>
          <p:cNvPr id="39" name="Shape 33"/>
          <p:cNvSpPr/>
          <p:nvPr/>
        </p:nvSpPr>
        <p:spPr>
          <a:xfrm>
            <a:off x="7406640" y="4160520"/>
            <a:ext cx="640080" cy="365760"/>
          </a:xfrm>
          <a:prstGeom prst="rightArrow">
            <a:avLst/>
          </a:prstGeom>
          <a:solidFill>
            <a:srgbClr val="1E2761"/>
          </a:solidFill>
          <a:ln/>
        </p:spPr>
      </p:sp>
      <p:sp>
        <p:nvSpPr>
          <p:cNvPr id="40" name="Shape 34"/>
          <p:cNvSpPr/>
          <p:nvPr/>
        </p:nvSpPr>
        <p:spPr>
          <a:xfrm>
            <a:off x="548640" y="5440680"/>
            <a:ext cx="11064240" cy="640080"/>
          </a:xfrm>
          <a:prstGeom prst="rect">
            <a:avLst/>
          </a:prstGeom>
          <a:solidFill>
            <a:srgbClr val="E6EDFF"/>
          </a:solidFill>
          <a:ln/>
        </p:spPr>
      </p:sp>
      <p:pic>
        <p:nvPicPr>
          <p:cNvPr id="4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596128"/>
            <a:ext cx="329184" cy="329184"/>
          </a:xfrm>
          <a:prstGeom prst="rect">
            <a:avLst/>
          </a:prstGeom>
        </p:spPr>
      </p:pic>
      <p:sp>
        <p:nvSpPr>
          <p:cNvPr id="42" name="Text 35"/>
          <p:cNvSpPr/>
          <p:nvPr/>
        </p:nvSpPr>
        <p:spPr>
          <a:xfrm>
            <a:off x="1188720" y="54864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client, same A2A protocol — APIM is the single enforcement point regardless of where the agent actually runs.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B4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SkylineA2A  |  Project overview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MONETIZATION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Management strategy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native APIM constructs deliver the first commercial layer — no agent code change needed.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2044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  <a:prstDash val="solid"/>
          </a:ln>
          <a:effectLst>
            <a:outerShdw sx="100000" sy="100000" kx="0" ky="0" algn="bl" rotWithShape="0" blurRad="152400" dist="25400" dir="5400000">
              <a:srgbClr val="0F1538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2148840"/>
            <a:ext cx="109728" cy="26060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9" name="Shape 7"/>
          <p:cNvSpPr/>
          <p:nvPr/>
        </p:nvSpPr>
        <p:spPr>
          <a:xfrm>
            <a:off x="868680" y="24231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560320"/>
            <a:ext cx="365760" cy="3657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645920" y="24231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645920" y="27889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Packaging tiers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68680" y="32918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— exploration &amp; onboarding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— production-grade quotas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product wraps one or many APIs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4343400" y="2148840"/>
            <a:ext cx="352044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  <a:prstDash val="solid"/>
          </a:ln>
          <a:effectLst>
            <a:outerShdw sx="100000" sy="100000" kx="0" ky="0" algn="bl" rotWithShape="0" blurRad="152400" dist="25400" dir="5400000">
              <a:srgbClr val="0F1538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343400" y="2148840"/>
            <a:ext cx="109728" cy="26060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6" name="Shape 13"/>
          <p:cNvSpPr/>
          <p:nvPr/>
        </p:nvSpPr>
        <p:spPr>
          <a:xfrm>
            <a:off x="4663440" y="24231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2560320"/>
            <a:ext cx="365760" cy="36576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440680" y="24231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Subscriptions</a:t>
            </a:r>
            <a:endParaRPr lang="en-US" sz="2200" dirty="0"/>
          </a:p>
        </p:txBody>
      </p:sp>
      <p:sp>
        <p:nvSpPr>
          <p:cNvPr id="19" name="Text 15"/>
          <p:cNvSpPr/>
          <p:nvPr/>
        </p:nvSpPr>
        <p:spPr>
          <a:xfrm>
            <a:off x="5440680" y="27889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Per-consumer identity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4663440" y="32918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keys per user / app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attributed to a tier &amp; tenant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Revoke / rotate without redeploys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8138160" y="2148840"/>
            <a:ext cx="352044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  <a:prstDash val="solid"/>
          </a:ln>
          <a:effectLst>
            <a:outerShdw sx="100000" sy="100000" kx="0" ky="0" algn="bl" rotWithShape="0" blurRad="152400" dist="25400" dir="5400000">
              <a:srgbClr val="0F1538">
                <a:alpha val="1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138160" y="2148840"/>
            <a:ext cx="109728" cy="26060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3" name="Shape 19"/>
          <p:cNvSpPr/>
          <p:nvPr/>
        </p:nvSpPr>
        <p:spPr>
          <a:xfrm>
            <a:off x="8458200" y="24231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2560320"/>
            <a:ext cx="365760" cy="36576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9235440" y="24231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</a:t>
            </a:r>
            <a:endParaRPr lang="en-US" sz="2200" dirty="0"/>
          </a:p>
        </p:txBody>
      </p:sp>
      <p:sp>
        <p:nvSpPr>
          <p:cNvPr id="26" name="Text 21"/>
          <p:cNvSpPr/>
          <p:nvPr/>
        </p:nvSpPr>
        <p:spPr>
          <a:xfrm>
            <a:off x="9235440" y="27889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 &amp; enforcement</a:t>
            </a:r>
            <a:endParaRPr lang="en-US" sz="1200" dirty="0"/>
          </a:p>
        </p:txBody>
      </p:sp>
      <p:sp>
        <p:nvSpPr>
          <p:cNvPr id="27" name="Text 22"/>
          <p:cNvSpPr/>
          <p:nvPr/>
        </p:nvSpPr>
        <p:spPr>
          <a:xfrm>
            <a:off x="8458200" y="32918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rate-limit-by-key &amp; quota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auth via managed identity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emit-metric  →  per-call telemetry</a:t>
            </a:r>
            <a:endParaRPr lang="en-US" sz="1250" dirty="0"/>
          </a:p>
        </p:txBody>
      </p:sp>
      <p:sp>
        <p:nvSpPr>
          <p:cNvPr id="28" name="Shape 23"/>
          <p:cNvSpPr/>
          <p:nvPr/>
        </p:nvSpPr>
        <p:spPr>
          <a:xfrm>
            <a:off x="548640" y="5074920"/>
            <a:ext cx="5532120" cy="1234440"/>
          </a:xfrm>
          <a:prstGeom prst="rect">
            <a:avLst/>
          </a:prstGeom>
          <a:solidFill>
            <a:srgbClr val="FFFFFF"/>
          </a:solidFill>
          <a:ln w="15875">
            <a:solidFill>
              <a:srgbClr val="10B981"/>
            </a:solidFill>
            <a:prstDash val="solid"/>
          </a:ln>
          <a:effectLst>
            <a:outerShdw sx="100000" sy="100000" kx="0" ky="0" algn="bl" rotWithShape="0" blurRad="152400" dist="25400" dir="5400000">
              <a:srgbClr val="0F1538">
                <a:alpha val="12000"/>
              </a:srgbClr>
            </a:outerShdw>
          </a:effectLst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257800"/>
            <a:ext cx="384048" cy="384048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1280160" y="5230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today</a:t>
            </a:r>
            <a:endParaRPr lang="en-US" sz="1600" dirty="0"/>
          </a:p>
        </p:txBody>
      </p:sp>
      <p:sp>
        <p:nvSpPr>
          <p:cNvPr id="31" name="Text 25"/>
          <p:cNvSpPr/>
          <p:nvPr/>
        </p:nvSpPr>
        <p:spPr>
          <a:xfrm>
            <a:off x="777240" y="571500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Product-tier access  ·  Subscription auth  ·  Rate-limit &amp; quota  ·  Per-call metering</a:t>
            </a:r>
            <a:endParaRPr lang="en-US" sz="1250" dirty="0"/>
          </a:p>
        </p:txBody>
      </p:sp>
      <p:sp>
        <p:nvSpPr>
          <p:cNvPr id="32" name="Shape 26"/>
          <p:cNvSpPr/>
          <p:nvPr/>
        </p:nvSpPr>
        <p:spPr>
          <a:xfrm>
            <a:off x="6263640" y="5074920"/>
            <a:ext cx="5349240" cy="1234440"/>
          </a:xfrm>
          <a:prstGeom prst="rect">
            <a:avLst/>
          </a:prstGeom>
          <a:solidFill>
            <a:srgbClr val="FFFFFF"/>
          </a:solidFill>
          <a:ln w="15875">
            <a:solidFill>
              <a:srgbClr val="F59E0B"/>
            </a:solidFill>
            <a:prstDash val="solid"/>
          </a:ln>
          <a:effectLst>
            <a:outerShdw sx="100000" sy="100000" kx="0" ky="0" algn="bl" rotWithShape="0" blurRad="152400" dist="25400" dir="5400000">
              <a:srgbClr val="0F1538">
                <a:alpha val="12000"/>
              </a:srgbClr>
            </a:outerShdw>
          </a:effectLst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5257800"/>
            <a:ext cx="384048" cy="384048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6995160" y="5230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forward</a:t>
            </a:r>
            <a:endParaRPr lang="en-US" sz="1600" dirty="0"/>
          </a:p>
        </p:txBody>
      </p:sp>
      <p:sp>
        <p:nvSpPr>
          <p:cNvPr id="35" name="Text 28"/>
          <p:cNvSpPr/>
          <p:nvPr/>
        </p:nvSpPr>
        <p:spPr>
          <a:xfrm>
            <a:off x="6492240" y="5669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metering pipeline  ·  Marketplace metered billing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Event-Hub + meter function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B4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SkylineA2A  |  Project overview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COMMERCIAL MODEL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&amp; subscriptions in this demo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packaged the two agents into two products. Each product carries its own quota envelope and subscription keys.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534924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  <a:prstDash val="solid"/>
          </a:ln>
          <a:effectLst>
            <a:outerShdw sx="100000" sy="100000" kx="0" ky="0" algn="bl" rotWithShape="0" blurRad="152400" dist="25400" dir="5400000">
              <a:srgbClr val="0F1538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2194560"/>
            <a:ext cx="5349240" cy="10972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2377440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960120" y="288036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tier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347472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960120" y="4251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during the pilot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4709160"/>
            <a:ext cx="4526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agents reachable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daily quota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subscription key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trials &amp; internal evaluation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63640" y="2194560"/>
            <a:ext cx="534924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  <a:prstDash val="solid"/>
          </a:ln>
          <a:effectLst>
            <a:outerShdw sx="100000" sy="100000" kx="0" ky="0" algn="bl" rotWithShape="0" blurRad="152400" dist="25400" dir="5400000">
              <a:srgbClr val="0F1538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63640" y="2194560"/>
            <a:ext cx="5349240" cy="1097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/>
          <p:nvPr/>
        </p:nvSpPr>
        <p:spPr>
          <a:xfrm>
            <a:off x="6675120" y="2377440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6675120" y="288036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tier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347472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6675120" y="4251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metered usage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75120" y="4709160"/>
            <a:ext cx="4526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agents reachable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rate-limit &amp; quota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Per-tenant subscription keys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for paying integrations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5989320"/>
            <a:ext cx="11064240" cy="3657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605332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B4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product can carry any number of subscriptions  ·  one key per consumer  ·  rotated independently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5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841480" y="0"/>
            <a:ext cx="54864" cy="14630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Shape 1"/>
          <p:cNvSpPr/>
          <p:nvPr/>
        </p:nvSpPr>
        <p:spPr>
          <a:xfrm>
            <a:off x="11951208" y="0"/>
            <a:ext cx="54864" cy="822960"/>
          </a:xfrm>
          <a:prstGeom prst="rect">
            <a:avLst/>
          </a:prstGeom>
          <a:solidFill>
            <a:srgbClr val="5FB6BB">
              <a:alpha val="6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FORWARD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repeatable monetization pattern for any future A2A agent.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A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protocol on the wire · same gateway in front · pricing levers wired in from day one.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3337560"/>
            <a:ext cx="3566160" cy="2286000"/>
          </a:xfrm>
          <a:prstGeom prst="rect">
            <a:avLst/>
          </a:prstGeom>
          <a:solidFill>
            <a:srgbClr val="1E2761"/>
          </a:solidFill>
          <a:ln w="9525">
            <a:solidFill>
              <a:srgbClr val="2C347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3337560"/>
            <a:ext cx="3566160" cy="7315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61188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400" dirty="0"/>
          </a:p>
        </p:txBody>
      </p:sp>
      <p:sp>
        <p:nvSpPr>
          <p:cNvPr id="10" name="Text 8"/>
          <p:cNvSpPr/>
          <p:nvPr/>
        </p:nvSpPr>
        <p:spPr>
          <a:xfrm>
            <a:off x="640080" y="47548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A2A agents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51206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FB6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· MAF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480560" y="3337560"/>
            <a:ext cx="3566160" cy="2286000"/>
          </a:xfrm>
          <a:prstGeom prst="rect">
            <a:avLst/>
          </a:prstGeom>
          <a:solidFill>
            <a:srgbClr val="1E2761"/>
          </a:solidFill>
          <a:ln w="9525">
            <a:solidFill>
              <a:srgbClr val="2C347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80560" y="3337560"/>
            <a:ext cx="3566160" cy="7315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4480560" y="361188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400" dirty="0"/>
          </a:p>
        </p:txBody>
      </p:sp>
      <p:sp>
        <p:nvSpPr>
          <p:cNvPr id="15" name="Text 13"/>
          <p:cNvSpPr/>
          <p:nvPr/>
        </p:nvSpPr>
        <p:spPr>
          <a:xfrm>
            <a:off x="4480560" y="47548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480560" y="51206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FB6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Management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321040" y="3337560"/>
            <a:ext cx="3566160" cy="2286000"/>
          </a:xfrm>
          <a:prstGeom prst="rect">
            <a:avLst/>
          </a:prstGeom>
          <a:solidFill>
            <a:srgbClr val="1E2761"/>
          </a:solidFill>
          <a:ln w="9525">
            <a:solidFill>
              <a:srgbClr val="2C347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21040" y="3337560"/>
            <a:ext cx="3566160" cy="7315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8321040" y="361188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400" dirty="0"/>
          </a:p>
        </p:txBody>
      </p:sp>
      <p:sp>
        <p:nvSpPr>
          <p:cNvPr id="20" name="Text 18"/>
          <p:cNvSpPr/>
          <p:nvPr/>
        </p:nvSpPr>
        <p:spPr>
          <a:xfrm>
            <a:off x="8321040" y="47548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tiers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21040" y="51206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FB6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· Pro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" y="58064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new agent  ·  spin up a new tier  ·  monetization is already wired in.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0" y="6583680"/>
            <a:ext cx="12191695" cy="7315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6327648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  →  </a:t>
            </a:r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github.com/frdeange/SkylineA2A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SkylineA2A — Project overview</dc:title>
  <dc:subject>PptxGenJS Presentation</dc:subject>
  <dc:creator>SkylineA2A</dc:creator>
  <cp:lastModifiedBy>SkylineA2A</cp:lastModifiedBy>
  <cp:revision>1</cp:revision>
  <dcterms:created xsi:type="dcterms:W3CDTF">2026-05-13T00:18:32Z</dcterms:created>
  <dcterms:modified xsi:type="dcterms:W3CDTF">2026-05-13T00:18:32Z</dcterms:modified>
</cp:coreProperties>
</file>